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Monthly cost estimate (USD) — fill in from calculator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Durable Functions</c:v>
                </c:pt>
              </c:strCache>
            </c:strRef>
          </c:tx>
          <c:spPr>
            <a:solidFill>
              <a:srgbClr val="1B7A7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~100/day</c:v>
                </c:pt>
                <c:pt idx="1">
                  <c:v>~10,000/day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70-454D-B86E-31D7D37CD3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Logic Apps + Service Bus</c:v>
                </c:pt>
              </c:strCache>
            </c:strRef>
          </c:tx>
          <c:spPr>
            <a:solidFill>
              <a:srgbClr val="E07A3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~100/day</c:v>
                </c:pt>
                <c:pt idx="1">
                  <c:v>~10,000/day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70-454D-B86E-31D7D37CD3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603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 Approval Workflow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Functions vs. Logic Apps + Service Bus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Faiza Boudehane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C7D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CST8917 — Serverless </a:t>
            </a:r>
            <a:r>
              <a:rPr lang="en-US" sz="1400" dirty="0" err="1">
                <a:solidFill>
                  <a:srgbClr val="C7D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Applications_Final</a:t>
            </a:r>
            <a:r>
              <a:rPr lang="en-US" sz="1400" dirty="0">
                <a:solidFill>
                  <a:srgbClr val="C7D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Project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2026/08/14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&amp; Business Rules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One expense request, evaluated the same way in both implementations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84832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12700">
            <a:solidFill>
              <a:srgbClr val="E1E5E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5" name="Shape 3"/>
          <p:cNvSpPr/>
          <p:nvPr/>
        </p:nvSpPr>
        <p:spPr>
          <a:xfrm>
            <a:off x="713232" y="20848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7A7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6" name="Text 4"/>
          <p:cNvSpPr/>
          <p:nvPr/>
        </p:nvSpPr>
        <p:spPr>
          <a:xfrm>
            <a:off x="713232" y="2084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2578608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Submit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880360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Employee sends: name, email, amount, category, description, manager email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33472" y="24688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98064" y="1920240"/>
            <a:ext cx="2084832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12700">
            <a:solidFill>
              <a:srgbClr val="E1E5E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1" name="Shape 9"/>
          <p:cNvSpPr/>
          <p:nvPr/>
        </p:nvSpPr>
        <p:spPr>
          <a:xfrm>
            <a:off x="2962656" y="20848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7A7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2962656" y="2084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62656" y="2578608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Validate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62656" y="2880360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Reject if a required field is missing or the category is invalid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82896" y="24688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47488" y="1920240"/>
            <a:ext cx="2084832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12700">
            <a:solidFill>
              <a:srgbClr val="E1E5E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7" name="Shape 15"/>
          <p:cNvSpPr/>
          <p:nvPr/>
        </p:nvSpPr>
        <p:spPr>
          <a:xfrm>
            <a:off x="5212080" y="20848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8" name="Text 16"/>
          <p:cNvSpPr/>
          <p:nvPr/>
        </p:nvSpPr>
        <p:spPr>
          <a:xfrm>
            <a:off x="5212080" y="2084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2080" y="2578608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&lt; $100 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12080" y="2880360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Auto-approved instantly, no manager needed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32320" y="24688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296912" y="1920240"/>
            <a:ext cx="2084832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12700">
            <a:solidFill>
              <a:srgbClr val="E1E5E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3" name="Shape 21"/>
          <p:cNvSpPr/>
          <p:nvPr/>
        </p:nvSpPr>
        <p:spPr>
          <a:xfrm>
            <a:off x="7461504" y="20848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07A3E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4" name="Text 22"/>
          <p:cNvSpPr/>
          <p:nvPr/>
        </p:nvSpPr>
        <p:spPr>
          <a:xfrm>
            <a:off x="7461504" y="2084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61504" y="2578608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≥ $100 ?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61504" y="2880360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Waits for manager approval, with a timeout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81744" y="24688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46336" y="1920240"/>
            <a:ext cx="2084832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12700">
            <a:solidFill>
              <a:srgbClr val="E1E5EA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9" name="Shape 27"/>
          <p:cNvSpPr/>
          <p:nvPr/>
        </p:nvSpPr>
        <p:spPr>
          <a:xfrm>
            <a:off x="9710928" y="20848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30" name="Text 28"/>
          <p:cNvSpPr/>
          <p:nvPr/>
        </p:nvSpPr>
        <p:spPr>
          <a:xfrm>
            <a:off x="9710928" y="2084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710928" y="2578608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Notify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710928" y="2880360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Employee gets the outcome: approved, rejected, or escalated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3749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Valid categories: travel · meals · supplies · equipment · software · other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34340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FDF2EC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35" name="Text 33"/>
          <p:cNvSpPr/>
          <p:nvPr/>
        </p:nvSpPr>
        <p:spPr>
          <a:xfrm>
            <a:off x="822960" y="4526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7A3E"/>
                </a:solidFill>
              </a:rPr>
              <a:t>Same rules, two engines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22960" y="489204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Version A implements this with Azure Durable Functions — code-first orchestration.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Version B implements the identical rules with Azure Logic Apps + Service Bus — visual, declarative orchestration.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A — Durable Functions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B7A7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HTTP Client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(submit_expense)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0" y="18745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6" name="Text 4"/>
          <p:cNvSpPr/>
          <p:nvPr/>
        </p:nvSpPr>
        <p:spPr>
          <a:xfrm>
            <a:off x="3200400" y="18745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Orchestrator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(expense_orchestrator)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00584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6217920" y="10058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Activity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validate_expense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88036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0" name="Text 8"/>
          <p:cNvSpPr/>
          <p:nvPr/>
        </p:nvSpPr>
        <p:spPr>
          <a:xfrm>
            <a:off x="6217920" y="28803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Activity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notify_employee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778240" y="18745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07A3E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877824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HTTP Client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(manager_decision)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8064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667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raises event →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7" name="Text 15"/>
          <p:cNvSpPr/>
          <p:nvPr/>
        </p:nvSpPr>
        <p:spPr>
          <a:xfrm>
            <a:off x="822960" y="409651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The Human Interaction Pattern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3891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context.task_any([wait_for_external_event("ManagerDecision"), create_timer(deadline)])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orchestrator suspends — at zero cost — until either the manager responds or the durable timer fires.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6235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</a:rPr>
              <a:t>3 function types: HTTP client, orchestrator, activities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</a:rPr>
              <a:t>Activity chaining: validate → branch → notify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</a:rPr>
              <a:t>Deployed as a single Python v2 Function App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A — Key Design Decisions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128016" cy="128016"/>
          </a:xfrm>
          <a:prstGeom prst="roundRect">
            <a:avLst/>
          </a:prstGeom>
          <a:solidFill>
            <a:srgbClr val="1B7A7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5" name="Text 3"/>
          <p:cNvSpPr/>
          <p:nvPr/>
        </p:nvSpPr>
        <p:spPr>
          <a:xfrm>
            <a:off x="1005840" y="1993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Timeout window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Set to 2 minutes for demo/testing; production would use something like 48 hours. Configurable in one constant.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8" name="Shape 6"/>
          <p:cNvSpPr/>
          <p:nvPr/>
        </p:nvSpPr>
        <p:spPr>
          <a:xfrm>
            <a:off x="6400800" y="2057400"/>
            <a:ext cx="128016" cy="128016"/>
          </a:xfrm>
          <a:prstGeom prst="roundRect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6629400" y="1993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Validation short-circuits early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242316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An invalid expense never reaches the approval branch — it notifies and returns immediately from the orchestrator.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2" name="Shape 10"/>
          <p:cNvSpPr/>
          <p:nvPr/>
        </p:nvSpPr>
        <p:spPr>
          <a:xfrm>
            <a:off x="777240" y="4343400"/>
            <a:ext cx="128016" cy="128016"/>
          </a:xfrm>
          <a:prstGeom prst="round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1005840" y="4279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Notification kept simple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70916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Outcome is logged rather than emailed, to keep the local demo self-contained — SendGrid/ACS Email is a drop-in swap.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41148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6" name="Shape 14"/>
          <p:cNvSpPr/>
          <p:nvPr/>
        </p:nvSpPr>
        <p:spPr>
          <a:xfrm>
            <a:off x="6400800" y="4343400"/>
            <a:ext cx="128016" cy="128016"/>
          </a:xfrm>
          <a:prstGeom prst="round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7" name="Text 15"/>
          <p:cNvSpPr/>
          <p:nvPr/>
        </p:nvSpPr>
        <p:spPr>
          <a:xfrm>
            <a:off x="6629400" y="4279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Deterministic orchestrator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470916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All I/O lives in activities; the orchestrator itself only sequences calls, satisfying the Durable Task Framework's replay rules.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A — Live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Local test run: auto-approve, manager approve/reject, and escalation — all confirmed against real Function executions</a:t>
            </a:r>
            <a:endParaRPr lang="en-US" sz="1300" dirty="0"/>
          </a:p>
        </p:txBody>
      </p:sp>
      <p:pic>
        <p:nvPicPr>
          <p:cNvPr id="4" name="Image 0" descr="va_scenari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349240" cy="2331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950208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7A72"/>
                </a:solidFill>
              </a:rPr>
              <a:t>Scenario 1 — under $100, auto-approved</a:t>
            </a:r>
            <a:endParaRPr lang="en-US" sz="1150" dirty="0"/>
          </a:p>
        </p:txBody>
      </p:sp>
      <p:pic>
        <p:nvPicPr>
          <p:cNvPr id="6" name="Image 1" descr="va_scenari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00200"/>
            <a:ext cx="5349240" cy="2331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72200" y="3950208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7A72"/>
                </a:solidFill>
              </a:rPr>
              <a:t>Scenario 2 — manager approves within the window</a:t>
            </a:r>
            <a:endParaRPr lang="en-US" sz="1150" dirty="0"/>
          </a:p>
        </p:txBody>
      </p:sp>
      <p:pic>
        <p:nvPicPr>
          <p:cNvPr id="8" name="Image 2" descr="va_scenario4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64992" y="4434840"/>
            <a:ext cx="5349240" cy="19659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64992" y="638251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7A72"/>
                </a:solidFill>
              </a:rPr>
              <a:t>Scenario 4 — no response → escalated after timeout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B — Logic Apps + Service Bus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B7A7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Service Bus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Queue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expense-requests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880360" y="173736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6" name="Text 4"/>
          <p:cNvSpPr/>
          <p:nvPr/>
        </p:nvSpPr>
        <p:spPr>
          <a:xfrm>
            <a:off x="2880360" y="17373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Logic App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(trigger + orchestration)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0" y="173736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5669280" y="17373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Azure Function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/api/validate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06040" y="20116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94960" y="20116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38160" y="173736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E07A3E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8138160" y="173736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Topic: expense-outcomes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4 filtered subscriptions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863840" y="20116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35240" y="24505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</a:rPr>
              <a:t>publishes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183880" y="2971800"/>
            <a:ext cx="749808" cy="640080"/>
          </a:xfrm>
          <a:prstGeom prst="roundRect">
            <a:avLst>
              <a:gd name="adj" fmla="val 8571"/>
            </a:avLst>
          </a:prstGeom>
          <a:solidFill>
            <a:srgbClr val="F4F6F8"/>
          </a:solidFill>
          <a:ln w="12700">
            <a:solidFill>
              <a:srgbClr val="E07A3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6" name="Text 14"/>
          <p:cNvSpPr/>
          <p:nvPr/>
        </p:nvSpPr>
        <p:spPr>
          <a:xfrm>
            <a:off x="8183880" y="2971800"/>
            <a:ext cx="749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A4A"/>
                </a:solidFill>
              </a:rPr>
              <a:t>manager-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B2A4A"/>
                </a:solidFill>
              </a:rPr>
              <a:t>decisions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025128" y="2971800"/>
            <a:ext cx="749808" cy="640080"/>
          </a:xfrm>
          <a:prstGeom prst="roundRect">
            <a:avLst>
              <a:gd name="adj" fmla="val 8571"/>
            </a:avLst>
          </a:prstGeom>
          <a:solidFill>
            <a:srgbClr val="F4F6F8"/>
          </a:solidFill>
          <a:ln w="12700">
            <a:solidFill>
              <a:srgbClr val="E07A3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18" name="Text 16"/>
          <p:cNvSpPr/>
          <p:nvPr/>
        </p:nvSpPr>
        <p:spPr>
          <a:xfrm>
            <a:off x="9025128" y="2971800"/>
            <a:ext cx="749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A4A"/>
                </a:solidFill>
              </a:rPr>
              <a:t>approved-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B2A4A"/>
                </a:solidFill>
              </a:rPr>
              <a:t>sub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866376" y="2971800"/>
            <a:ext cx="749808" cy="640080"/>
          </a:xfrm>
          <a:prstGeom prst="roundRect">
            <a:avLst>
              <a:gd name="adj" fmla="val 8571"/>
            </a:avLst>
          </a:prstGeom>
          <a:solidFill>
            <a:srgbClr val="F4F6F8"/>
          </a:solidFill>
          <a:ln w="12700">
            <a:solidFill>
              <a:srgbClr val="E07A3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0" name="Text 18"/>
          <p:cNvSpPr/>
          <p:nvPr/>
        </p:nvSpPr>
        <p:spPr>
          <a:xfrm>
            <a:off x="9866376" y="2971800"/>
            <a:ext cx="749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A4A"/>
                </a:solidFill>
              </a:rPr>
              <a:t>rejected-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B2A4A"/>
                </a:solidFill>
              </a:rPr>
              <a:t>sub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707624" y="2971800"/>
            <a:ext cx="749808" cy="640080"/>
          </a:xfrm>
          <a:prstGeom prst="roundRect">
            <a:avLst>
              <a:gd name="adj" fmla="val 8571"/>
            </a:avLst>
          </a:prstGeom>
          <a:solidFill>
            <a:srgbClr val="F4F6F8"/>
          </a:solidFill>
          <a:ln w="12700">
            <a:solidFill>
              <a:srgbClr val="E07A3E"/>
            </a:solidFill>
            <a:prstDash val="solid"/>
          </a:ln>
        </p:spPr>
        <p:txBody>
          <a:bodyPr/>
          <a:lstStyle/>
          <a:p>
            <a:endParaRPr lang="fr-CA"/>
          </a:p>
        </p:txBody>
      </p:sp>
      <p:sp>
        <p:nvSpPr>
          <p:cNvPr id="22" name="Text 20"/>
          <p:cNvSpPr/>
          <p:nvPr/>
        </p:nvSpPr>
        <p:spPr>
          <a:xfrm>
            <a:off x="10707624" y="2971800"/>
            <a:ext cx="749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2A4A"/>
                </a:solidFill>
              </a:rPr>
              <a:t>escalated-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B2A4A"/>
                </a:solidFill>
              </a:rPr>
              <a:t>sub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24" name="Text 22"/>
          <p:cNvSpPr/>
          <p:nvPr/>
        </p:nvSpPr>
        <p:spPr>
          <a:xfrm>
            <a:off x="822960" y="41148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Manager approval, without a native “wait” primitive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48056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Logic Apps publishes a “pending” message, then loops: wait ~20s → peek the manager-decisions subscription → repeat, up to a bounded iteration count that stands in for the timeout.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An Azure Function is called synchronously for validation — the one piece of custom code in an otherwise declarative flow.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B — The Polling Approach (and its Trade-off)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DF2EC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7A3E"/>
                </a:solidFill>
              </a:rPr>
              <a:t>The honest limitation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Logic Apps has no equivalent to Durable Functions' task_any([wait_for_external_event, create_timer]). There is no native “suspend until X or timeout” primitive — so this workflow substitutes a bounded polling loop instead of an instant, event-driven wait.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146304" cy="146304"/>
          </a:xfrm>
          <a:prstGeom prst="roundRect">
            <a:avLst/>
          </a:prstGeom>
          <a:solidFill>
            <a:srgbClr val="B3452C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1051560" y="31729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What polling costs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4709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Decision latency bounded by poll interval (~20s), not instant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Each poll is a billable action execution, even when nothing changed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Iteration count/timeout must be hand-tuned to approximate the real window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97180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1" name="Shape 9"/>
          <p:cNvSpPr/>
          <p:nvPr/>
        </p:nvSpPr>
        <p:spPr>
          <a:xfrm>
            <a:off x="6446520" y="3246120"/>
            <a:ext cx="146304" cy="146304"/>
          </a:xfrm>
          <a:prstGeom prst="round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6675120" y="31729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What it gains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3749040"/>
            <a:ext cx="4709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No custom code needed — built from standard connector actions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Fully visible in the visual designer, easy to explain to a non-developer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Same Service Bus topic doubles as the eventual outcome-notification channel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B — Live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Validation Function deployed and confirmed, workflow built and published end-to-end in the designer</a:t>
            </a:r>
            <a:endParaRPr lang="en-US" sz="1300" dirty="0"/>
          </a:p>
        </p:txBody>
      </p:sp>
      <p:pic>
        <p:nvPicPr>
          <p:cNvPr id="4" name="Image 0" descr="vb_func_depl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349240" cy="2423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06908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7A72"/>
                </a:solidFill>
              </a:rPr>
              <a:t>Validation Function deployed — returns valid/reason/requiresApproval</a:t>
            </a:r>
            <a:endParaRPr lang="en-US" sz="1150" dirty="0"/>
          </a:p>
        </p:txBody>
      </p:sp>
      <p:pic>
        <p:nvPicPr>
          <p:cNvPr id="6" name="Image 1" descr="vb_sendm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00200"/>
            <a:ext cx="5349240" cy="2423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72200" y="406908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7A72"/>
                </a:solidFill>
              </a:rPr>
              <a:t>Sending a test expense into the expense-requests queue</a:t>
            </a:r>
            <a:endParaRPr lang="en-US" sz="1150" dirty="0"/>
          </a:p>
        </p:txBody>
      </p:sp>
      <p:pic>
        <p:nvPicPr>
          <p:cNvPr id="8" name="Image 2" descr="vb_flow_overview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64992" y="4572000"/>
            <a:ext cx="5349240" cy="18288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64992" y="6419088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7A72"/>
                </a:solidFill>
              </a:rPr>
              <a:t>Full workflow: validate → auto-approve / poll → publish outcome → email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— Development Experience &amp; Testability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1B7A72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Durable Functions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6" name="Text 4"/>
          <p:cNvSpPr/>
          <p:nvPr/>
        </p:nvSpPr>
        <p:spPr>
          <a:xfrm>
            <a:off x="731520" y="212140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Dev loop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A1A1A"/>
                </a:solidFill>
              </a:rPr>
              <a:t>Plain Python + one constraint: deterministic orchestrator. func start gives a tight edit-test cycle.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731520" y="372160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Testing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A1A1A"/>
                </a:solidFill>
              </a:rPr>
              <a:t>test-durable.http drives all 6 scenarios locally via Azurite — zero cloud dependency to validate logic.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382512" y="1371600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E07A3E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6382512" y="137160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Logic Apps + Service Bus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82512" y="201168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4" name="Text 12"/>
          <p:cNvSpPr/>
          <p:nvPr/>
        </p:nvSpPr>
        <p:spPr>
          <a:xfrm>
            <a:off x="6565392" y="212140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Dev loop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65392" y="242316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A1A1A"/>
                </a:solidFill>
              </a:rPr>
              <a:t>Logic split across queue, Function, and visual workflow — individually simple, slower to wire and iterate on.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382512" y="361188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7" name="Text 15"/>
          <p:cNvSpPr/>
          <p:nvPr/>
        </p:nvSpPr>
        <p:spPr>
          <a:xfrm>
            <a:off x="6565392" y="372160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Testing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65392" y="402336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A1A1A"/>
                </a:solidFill>
              </a:rPr>
              <a:t>Validation Function unit-tests like any Python code; the orchestration itself only runs by actually deploying.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— Error Handling, Human Interaction, Observability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Dimension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71800" y="1417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Durable Functions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78040" y="141732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Logic Apps + Service Bus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0881360" cy="15087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21945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Error handling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71800" y="1984248"/>
            <a:ext cx="4023360" cy="1289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RetryOptions on activities; exceptions are catchable in the orchestrator for explicit branching.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78040" y="1984248"/>
            <a:ext cx="4114800" cy="1289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Per-action retry policy (count/interval/type) + “Run after” branches on Failed/TimedOut/Skipped.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0881360" cy="1508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2" name="Text 10"/>
          <p:cNvSpPr/>
          <p:nvPr/>
        </p:nvSpPr>
        <p:spPr>
          <a:xfrm>
            <a:off x="685800" y="3383280"/>
            <a:ext cx="21945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Human interaction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71800" y="3493008"/>
            <a:ext cx="4023360" cy="1289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task_any([event, timer]) — instant, native, zero cost while suspended.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78040" y="3493008"/>
            <a:ext cx="4114800" cy="1289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Polling loop against a Service Bus subscription — coarser, and each poll costs an action execution.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10881360" cy="15087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6" name="Text 14"/>
          <p:cNvSpPr/>
          <p:nvPr/>
        </p:nvSpPr>
        <p:spPr>
          <a:xfrm>
            <a:off x="685800" y="4892040"/>
            <a:ext cx="21945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Observability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971800" y="5001768"/>
            <a:ext cx="4023360" cy="1289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statusQueryGetUri + Application Insights; instance replay history shows exact execution order.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78040" y="5001768"/>
            <a:ext cx="4114800" cy="1289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Portal Run History shows every action's inputs/outputs inline — approachable for a non-developer audience.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— Estimated Cost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Both are consumption-priced — cost scales with volume, not idle capacity. Figures from the Azure Pricing Calculator; [insert your actual numbers].</a:t>
            </a:r>
            <a:endParaRPr lang="en-US" sz="12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54864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691640"/>
            <a:ext cx="5120640" cy="3017520"/>
          </a:xfrm>
          <a:prstGeom prst="roundRect">
            <a:avLst>
              <a:gd name="adj" fmla="val 242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653796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Assumptions to state explicitly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37960" y="219456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% of expenses that actually require manager approval (≥ $100)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Average wait time for a manager decision — drives timer duration (A) and poll count (B)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Service Bus tier: Standard vs. Premium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Polling interval chosen for Version B — directly multiplies action-execution cost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48920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DF2EC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9" name="Text 6"/>
          <p:cNvSpPr/>
          <p:nvPr/>
        </p:nvSpPr>
        <p:spPr>
          <a:xfrm>
            <a:off x="822960" y="50292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A3E"/>
                </a:solidFill>
              </a:rPr>
              <a:t>Key insight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534924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The polling loop is the line item to watch for Version B — every expense awaiting approval multiplies action-executions by however many poll cycles it takes to get a decision.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&amp; Lessons Learned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0881360" cy="2286000"/>
          </a:xfrm>
          <a:prstGeom prst="roundRect">
            <a:avLst>
              <a:gd name="adj" fmla="val 32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Verdict: Durable Functions for this workflow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</a:rPr>
              <a:t>The “wait for a human, with a timeout” requirement is central here — and it's a first-class Durable Task Framework pattern, not a workaround. That means better local testability, tighter retry/error control, and lower cost at scale since idle waiting is free.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</a:rPr>
              <a:t>Choose Logic Apps instead when: the maintainers are non-developers who need a visual, no-deploy way to adjust conditions — or the workflow leans on Logic Apps' 400+ prebuilt connectors more than on precise timing.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</a:rPr>
              <a:t>Lessons learned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The polling substitute for wait_for_external_event was the single biggest architectural surprise — it reshapes cost, latency, and design all at once.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[Add your own: what would you do differently next time?]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[Add your own: what took longer than expected — and why?]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1256</Words>
  <Application>Microsoft Office PowerPoint</Application>
  <PresentationFormat>Grand écran</PresentationFormat>
  <Paragraphs>170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faiza Boudehane</cp:lastModifiedBy>
  <cp:revision>2</cp:revision>
  <dcterms:created xsi:type="dcterms:W3CDTF">2026-08-15T04:19:06Z</dcterms:created>
  <dcterms:modified xsi:type="dcterms:W3CDTF">2026-08-15T04:22:59Z</dcterms:modified>
</cp:coreProperties>
</file>